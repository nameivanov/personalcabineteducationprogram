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ef86fa5689f4ec5" /><Relationship Type="http://schemas.openxmlformats.org/officeDocument/2006/relationships/extended-properties" Target="/docProps/app.xml" Id="R023cb5654c3b411e" /><Relationship Type="http://schemas.openxmlformats.org/officeDocument/2006/relationships/officeDocument" Target="/ppt/presentation.xml" Id="Ra7e75fdb07d7455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6e73b78a66b4a37"/>
  </p:sldMasterIdLst>
  <p:notesMasterIdLst>
    <p:notesMasterId xmlns:r="http://schemas.openxmlformats.org/officeDocument/2006/relationships" r:id="R33175da7e68849b8"/>
  </p:notesMasterIdLst>
  <p:sldIdLst>
    <p:sldId xmlns:r="http://schemas.openxmlformats.org/officeDocument/2006/relationships" id="256" r:id="Rcc3f85cd59c54ce8"/>
    <p:sldId xmlns:r="http://schemas.openxmlformats.org/officeDocument/2006/relationships" id="257" r:id="Ra500e85c2e57458d"/>
    <p:sldId xmlns:r="http://schemas.openxmlformats.org/officeDocument/2006/relationships" id="258" r:id="R35da30c9834646c8"/>
    <p:sldId xmlns:r="http://schemas.openxmlformats.org/officeDocument/2006/relationships" id="259" r:id="Rada2529fdce94ab8"/>
    <p:sldId xmlns:r="http://schemas.openxmlformats.org/officeDocument/2006/relationships" id="260" r:id="R9746025cef794180"/>
    <p:sldId xmlns:r="http://schemas.openxmlformats.org/officeDocument/2006/relationships" id="261" r:id="R84aeda4d561740b3"/>
    <p:sldId xmlns:r="http://schemas.openxmlformats.org/officeDocument/2006/relationships" id="262" r:id="R906416bdf0a34443"/>
    <p:sldId xmlns:r="http://schemas.openxmlformats.org/officeDocument/2006/relationships" id="263" r:id="Rc3d4eef9b10245f4"/>
    <p:sldId xmlns:r="http://schemas.openxmlformats.org/officeDocument/2006/relationships" id="264" r:id="R577ab234c93a4854"/>
    <p:sldId xmlns:r="http://schemas.openxmlformats.org/officeDocument/2006/relationships" id="265" r:id="R897ef60c930e4bde"/>
    <p:sldId xmlns:r="http://schemas.openxmlformats.org/officeDocument/2006/relationships" id="266" r:id="Ra979ec4565074c8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20c5ca676eb43ef" /><Relationship Type="http://schemas.openxmlformats.org/officeDocument/2006/relationships/slideMaster" Target="/ppt/slideMasters/slideMaster1.xml" Id="R86e73b78a66b4a37" /><Relationship Type="http://schemas.openxmlformats.org/officeDocument/2006/relationships/notesMaster" Target="/ppt/notesMasters/notesMaster1.xml" Id="R33175da7e68849b8" /><Relationship Type="http://schemas.openxmlformats.org/officeDocument/2006/relationships/presProps" Target="/ppt/presProps.xml" Id="Re4b1b95ef0574c7e" /><Relationship Type="http://schemas.openxmlformats.org/officeDocument/2006/relationships/tableStyles" Target="/ppt/tableStyles.xml" Id="R809e435d8617494f" /><Relationship Type="http://schemas.openxmlformats.org/officeDocument/2006/relationships/slide" Target="/ppt/slides/slide1.xml" Id="Rcc3f85cd59c54ce8" /><Relationship Type="http://schemas.openxmlformats.org/officeDocument/2006/relationships/slide" Target="/ppt/slides/slide2.xml" Id="Ra500e85c2e57458d" /><Relationship Type="http://schemas.openxmlformats.org/officeDocument/2006/relationships/slide" Target="/ppt/slides/slide3.xml" Id="R35da30c9834646c8" /><Relationship Type="http://schemas.openxmlformats.org/officeDocument/2006/relationships/slide" Target="/ppt/slides/slide4.xml" Id="Rada2529fdce94ab8" /><Relationship Type="http://schemas.openxmlformats.org/officeDocument/2006/relationships/slide" Target="/ppt/slides/slide5.xml" Id="R9746025cef794180" /><Relationship Type="http://schemas.openxmlformats.org/officeDocument/2006/relationships/slide" Target="/ppt/slides/slide6.xml" Id="R84aeda4d561740b3" /><Relationship Type="http://schemas.openxmlformats.org/officeDocument/2006/relationships/slide" Target="/ppt/slides/slide7.xml" Id="R906416bdf0a34443" /><Relationship Type="http://schemas.openxmlformats.org/officeDocument/2006/relationships/slide" Target="/ppt/slides/slide8.xml" Id="Rc3d4eef9b10245f4" /><Relationship Type="http://schemas.openxmlformats.org/officeDocument/2006/relationships/slide" Target="/ppt/slides/slide9.xml" Id="R577ab234c93a4854" /><Relationship Type="http://schemas.openxmlformats.org/officeDocument/2006/relationships/slide" Target="/ppt/slides/slide10.xml" Id="R897ef60c930e4bde" /><Relationship Type="http://schemas.openxmlformats.org/officeDocument/2006/relationships/slide" Target="/ppt/slides/slide11.xml" Id="Ra979ec4565074c8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cf517daa641458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2326fcacfd9480e" /><Relationship Type="http://schemas.openxmlformats.org/officeDocument/2006/relationships/notesMaster" Target="/ppt/notesMasters/notesMaster1.xml" Id="Rb2ed90e7ee384df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e1f2853167e42f7" /><Relationship Type="http://schemas.openxmlformats.org/officeDocument/2006/relationships/notesMaster" Target="/ppt/notesMasters/notesMaster1.xml" Id="Rbd2cf99e7ccf49b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51d6a554dfb4af5" /><Relationship Type="http://schemas.openxmlformats.org/officeDocument/2006/relationships/notesMaster" Target="/ppt/notesMasters/notesMaster1.xml" Id="R76e51175c9f64f2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a101c1361fb4c14" /><Relationship Type="http://schemas.openxmlformats.org/officeDocument/2006/relationships/notesMaster" Target="/ppt/notesMasters/notesMaster1.xml" Id="Rcea17d6e4dc14d4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bb6709862144a94" /><Relationship Type="http://schemas.openxmlformats.org/officeDocument/2006/relationships/notesMaster" Target="/ppt/notesMasters/notesMaster1.xml" Id="R0857cccd08794cf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32eaa2a76ff4457" /><Relationship Type="http://schemas.openxmlformats.org/officeDocument/2006/relationships/notesMaster" Target="/ppt/notesMasters/notesMaster1.xml" Id="R1d7efdc0360e490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6af701e247e413b" /><Relationship Type="http://schemas.openxmlformats.org/officeDocument/2006/relationships/notesMaster" Target="/ppt/notesMasters/notesMaster1.xml" Id="R80beae65f6b4421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5c5a8d73f37408b" /><Relationship Type="http://schemas.openxmlformats.org/officeDocument/2006/relationships/notesMaster" Target="/ppt/notesMasters/notesMaster1.xml" Id="R1d5fdf8e89f64c5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2c4d4b53db84b07" /><Relationship Type="http://schemas.openxmlformats.org/officeDocument/2006/relationships/notesMaster" Target="/ppt/notesMasters/notesMaster1.xml" Id="R6098f0556a7841e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70de4fab4294a08" /><Relationship Type="http://schemas.openxmlformats.org/officeDocument/2006/relationships/notesMaster" Target="/ppt/notesMasters/notesMaster1.xml" Id="Rc71b49ea412f411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05a7a88f6e04249" /><Relationship Type="http://schemas.openxmlformats.org/officeDocument/2006/relationships/notesMaster" Target="/ppt/notesMasters/notesMaster1.xml" Id="Rf6d151cfd28c482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a6934d39eb4ce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da1044b551c488a" /><Relationship Type="http://schemas.openxmlformats.org/officeDocument/2006/relationships/slideLayout" Target="/ppt/slideLayouts/slideLayout1.xml" Id="R852a6aa64e6c499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52a6aa64e6c499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0b10dfdec7497a" /><Relationship Type="http://schemas.openxmlformats.org/officeDocument/2006/relationships/notesSlide" Target="/ppt/notesSlides/notesSlide1.xml" Id="Rc8847eb5a489467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6e15b67a2848ae" /><Relationship Type="http://schemas.openxmlformats.org/officeDocument/2006/relationships/notesSlide" Target="/ppt/notesSlides/notesSlide2.xml" Id="R583fc5bdf0954bd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6d821833534ff1" /><Relationship Type="http://schemas.openxmlformats.org/officeDocument/2006/relationships/notesSlide" Target="/ppt/notesSlides/notesSlide3.xml" Id="R2aad4d73f926499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ec1dc10f214626" /><Relationship Type="http://schemas.openxmlformats.org/officeDocument/2006/relationships/notesSlide" Target="/ppt/notesSlides/notesSlide4.xml" Id="R3bfb3739ff0742a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c43e85cc374cdf" /><Relationship Type="http://schemas.openxmlformats.org/officeDocument/2006/relationships/notesSlide" Target="/ppt/notesSlides/notesSlide5.xml" Id="Rab065190f563494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59e22b5abf4bf9" /><Relationship Type="http://schemas.openxmlformats.org/officeDocument/2006/relationships/notesSlide" Target="/ppt/notesSlides/notesSlide6.xml" Id="R91f6777d592843c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e36bf95a6d488b" /><Relationship Type="http://schemas.openxmlformats.org/officeDocument/2006/relationships/notesSlide" Target="/ppt/notesSlides/notesSlide7.xml" Id="Rb2e6d0f79e44408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554b61522348e2" /><Relationship Type="http://schemas.openxmlformats.org/officeDocument/2006/relationships/notesSlide" Target="/ppt/notesSlides/notesSlide8.xml" Id="Rf37a2b850864498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9c1424bd0a4df8" /><Relationship Type="http://schemas.openxmlformats.org/officeDocument/2006/relationships/notesSlide" Target="/ppt/notesSlides/notesSlide9.xml" Id="R5c1567c4a38c476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5fdd12483d4366" /><Relationship Type="http://schemas.openxmlformats.org/officeDocument/2006/relationships/notesSlide" Target="/ppt/notesSlides/notesSlide10.xml" Id="R1c9663477d5b463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9d6405af6045e6" /><Relationship Type="http://schemas.openxmlformats.org/officeDocument/2006/relationships/notesSlide" Target="/ppt/notesSlides/notesSlide11.xml" Id="R3b65089fbb8e449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570408-420D-457E-AD62-1F11B9F42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7143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Личный кабинет</a:t>
            </a:r>
          </a:p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образовательной программы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AD69B5-7E99-4AAC-AB71-0A5FEFB23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86050"/>
            <a:ext cx="619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DCEB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CEBFA"/>
                </a:solidFill>
                <a:latin typeface="Arial"/>
                <a:ea typeface="Arial"/>
                <a:cs typeface="Arial"/>
              </a:rPr>
              <a:t>Система для ведения ОПОП, согласования документов, публикации и административного контроля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C42CEA-0E62-48B4-8B2B-EDD30047B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86200"/>
            <a:ext cx="2095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BB7D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D27E3D-7E0A-4793-97B5-A925569F1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0"/>
            <a:ext cx="1762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Презентация проекта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2F07FC-CCF9-4882-B702-41888CB83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219200"/>
            <a:ext cx="2524125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2BB7D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6DC664-0B69-4C6B-AAF3-26C7E0860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219200"/>
            <a:ext cx="0" cy="354330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2BB7D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913CE7-E0A7-4A22-9BBF-35236DFBD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762500"/>
            <a:ext cx="2524125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2BB7D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044292-5423-409D-A83D-156633102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324100"/>
            <a:ext cx="1809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079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ОПОП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56C1D0-C4DD-4187-9256-F2630A27B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3048000"/>
            <a:ext cx="2238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7D4E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7D4EF"/>
                </a:solidFill>
                <a:latin typeface="Arial"/>
                <a:ea typeface="Arial"/>
                <a:cs typeface="Arial"/>
              </a:rPr>
              <a:t>документы · роли · контроль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6AB6E2-0D27-4154-A110-F547048A0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38875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B7D4E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B7D4EF"/>
                </a:solidFill>
                <a:latin typeface="Arial"/>
                <a:ea typeface="Arial"/>
                <a:cs typeface="Arial"/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37541579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23E75A-877E-4C0C-8F48-3307C4A3E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267C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267C5"/>
                </a:solidFill>
                <a:latin typeface="Arial"/>
                <a:ea typeface="Arial"/>
                <a:cs typeface="Arial"/>
              </a:rPr>
              <a:t>ЛИЧНЫЙ КАБИНЕТ ОПОП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D7A33F-EFBA-4B21-ACE5-755EC0EF5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19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Назначение системы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3A4A28-2509-476F-A3D3-1799C5364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8E7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32C7E4-5E86-42D8-9DF6-E1AF483B1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Единое рабочее пространство для сопровождения основных образовательных программ.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C9990F-9AD6-4229-BA60-E846B4599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4669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B7D8"/>
          </a:solidFill>
          <a:ln xmlns:a="http://schemas.openxmlformats.org/drawingml/2006/main" w="0">
            <a:solidFill>
              <a:srgbClr val="2BB7D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22236F-E907-4D8B-B97F-FD06ECBEA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3812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Управление ОПОП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8A096A-979C-4B59-B9AA-A4F0CC797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647950"/>
            <a:ext cx="304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45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47A"/>
                </a:solidFill>
                <a:latin typeface="Arial"/>
                <a:ea typeface="Arial"/>
                <a:cs typeface="Arial"/>
              </a:rPr>
              <a:t>Программы привязаны к кафедрам, факультетам и ответственным сотрудникам.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FC8A4F-BF50-433E-BC8B-735653963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4669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B7D8"/>
          </a:solidFill>
          <a:ln xmlns:a="http://schemas.openxmlformats.org/drawingml/2006/main" w="0">
            <a:solidFill>
              <a:srgbClr val="2BB7D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A70C85-E1A0-4376-A768-2F63FEF49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3812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Контроль документов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231C21-B9F7-4E72-9768-F9A59E03A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47950"/>
            <a:ext cx="304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647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47A"/>
                </a:solidFill>
                <a:latin typeface="Arial"/>
                <a:ea typeface="Arial"/>
                <a:cs typeface="Arial"/>
              </a:rPr>
              <a:t>Система хранит документы, версии, комментарии и текущий статус каждого элемента.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9F6EC5-8988-41D1-AA97-C8D59A8C6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4669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B7D8"/>
          </a:solidFill>
          <a:ln xmlns:a="http://schemas.openxmlformats.org/drawingml/2006/main" w="0">
            <a:solidFill>
              <a:srgbClr val="2BB7D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AA3B79-5D5E-4752-8545-049BE3EA2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3812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Публикация по правилам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701C2B-8AA6-4DDE-AB72-677198753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647950"/>
            <a:ext cx="304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47A"/>
                </a:solidFill>
                <a:latin typeface="Arial"/>
                <a:ea typeface="Arial"/>
                <a:cs typeface="Arial"/>
              </a:rPr>
              <a:t>Только согласованные материалы становятся доступны для публикации.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F5A479-A954-4363-BB23-F18658BB0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76750"/>
            <a:ext cx="93345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CAD8E7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B199CC-A67C-46A1-B4DC-F11C857C7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267C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267C5"/>
                </a:solidFill>
                <a:latin typeface="Arial"/>
                <a:ea typeface="Arial"/>
                <a:cs typeface="Arial"/>
              </a:rPr>
              <a:t>Результат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EC54A4-C578-4CF8-B90B-89B56FD2B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9715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Процесс подготовки ОПОП становится прозрачным: участник видит свою задачу, а администратор получает историю действий и контроль состояния системы.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6BFA7D-30BB-476A-834F-B07CDB706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47A"/>
                </a:solidFill>
                <a:latin typeface="Arial"/>
                <a:ea typeface="Arial"/>
                <a:cs typeface="Arial"/>
              </a:rPr>
              <a:t>ASP.NET Core MVC · MySQL · EF Core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133BFB-F144-4CE8-96C0-562889848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4842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3647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70769298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00298F-8289-4211-AEE3-58C527392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267C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267C5"/>
                </a:solidFill>
                <a:latin typeface="Arial"/>
                <a:ea typeface="Arial"/>
                <a:cs typeface="Arial"/>
              </a:rPr>
              <a:t>ЛИЧНЫЙ КАБИНЕТ ОПОП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CF596A-23AE-490A-9FA5-4ED498E3C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19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Роли и зоны ответственности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B2D3F0-1DEC-4545-9BA1-AC50D3776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8E7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B204D2-2A41-49A5-9B6F-444616536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2333625" cy="25241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64BC77-90D5-48CE-9092-1745CFEAA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8600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BB7D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BB7D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D15905-7241-44F7-86CE-056823FA7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81300"/>
            <a:ext cx="1952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689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Руководитель ОПОП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15EA03-3B0D-4621-BD1D-425D889B0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76625"/>
            <a:ext cx="19526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809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47A"/>
                </a:solidFill>
                <a:latin typeface="Arial"/>
                <a:ea typeface="Arial"/>
                <a:cs typeface="Arial"/>
              </a:rPr>
              <a:t>Ведёт программу, загружает документы, импортирует учебный план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80F099-A9AD-473F-9157-930271584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095500"/>
            <a:ext cx="2333625" cy="25241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410485-50D5-4C54-91C7-3D7075420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28600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BB7D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BB7D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EE47C7-510C-47D3-9B9C-9C527E36E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781300"/>
            <a:ext cx="1952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Согласующий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F5A3F3-6D7A-4385-8A37-1F317C44D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3476625"/>
            <a:ext cx="19526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797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47A"/>
                </a:solidFill>
                <a:latin typeface="Arial"/>
                <a:ea typeface="Arial"/>
                <a:cs typeface="Arial"/>
              </a:rPr>
              <a:t>Проверяет материалы, согласует или возвращает на доработку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5629D7-AC4E-487C-8768-E4B5634EC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095500"/>
            <a:ext cx="2333625" cy="25241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D9DF9E-CBB7-4A09-8592-9814DC614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28600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BB7D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BB7D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D7160A-4865-4A23-AD66-8A935EBEF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781300"/>
            <a:ext cx="1952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Модератор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464469-DDC2-4C62-8739-58053516A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476625"/>
            <a:ext cx="19526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128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47A"/>
                </a:solidFill>
                <a:latin typeface="Arial"/>
                <a:ea typeface="Arial"/>
                <a:cs typeface="Arial"/>
              </a:rPr>
              <a:t>Публикует согласованные элементы и управляет видимостью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CCE2DB-5679-4E1E-BBAF-1C20AAC32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095500"/>
            <a:ext cx="2333625" cy="25241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015FA0-9024-40DC-9F60-CAA8C8780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28600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BB7D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BB7D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D8404D-5D6D-4A32-988B-84A498A59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781300"/>
            <a:ext cx="1952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Администратор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380EF2-01B8-4A60-A2AA-A6483DB1B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476625"/>
            <a:ext cx="19526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47A"/>
                </a:solidFill>
                <a:latin typeface="Arial"/>
                <a:ea typeface="Arial"/>
                <a:cs typeface="Arial"/>
              </a:rPr>
              <a:t>Настраивает структуру, пользователей, права, аудит и безопасность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FBE8AB-CEF7-4027-B119-1BD07823E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19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812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Каждая роль получает доступ только к своим операциям. Авторизация строится на ASP.NET Core Identity и ролевых политиках.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14C9EC-C03A-4E1A-9666-AD29D3994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47A"/>
                </a:solidFill>
                <a:latin typeface="Arial"/>
                <a:ea typeface="Arial"/>
                <a:cs typeface="Arial"/>
              </a:rPr>
              <a:t>ASP.NET Core MVC · MySQL · EF Core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7BA259-3428-4DD6-A62B-07DCC31E3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4842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3647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59122400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A23CAC1-65D8-4B77-B57C-9E96E47BC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267C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267C5"/>
                </a:solidFill>
                <a:latin typeface="Arial"/>
                <a:ea typeface="Arial"/>
                <a:cs typeface="Arial"/>
              </a:rPr>
              <a:t>ЛИЧНЫЙ КАБИНЕТ ОПОП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80E29A-4E54-4963-8A08-FA0DB14D3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19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Жизненный цикл документа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6427B5-557D-4E07-897D-53D7024C7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8E7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674E7D-D6B6-49AE-A411-445D7318C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4792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7C5"/>
          </a:solidFill>
          <a:ln xmlns:a="http://schemas.openxmlformats.org/drawingml/2006/main" w="0">
            <a:solidFill>
              <a:srgbClr val="1267C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071D9F-ECD9-4D99-859A-B88FC88F5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562225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60878B-7D50-4145-A7C6-37C4FC72B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Загрузка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EE7F0C-F06B-4AE7-832C-E5F829EA0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8140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47A"/>
                </a:solidFill>
                <a:latin typeface="Arial"/>
                <a:ea typeface="Arial"/>
                <a:cs typeface="Arial"/>
              </a:rPr>
              <a:t>Файл или комплект документов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64DDEA-C510-48BD-B126-403A00A1B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714625"/>
            <a:ext cx="1476375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BB7D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0C0A6F-662B-4D19-939E-13BB1D863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44792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7C5"/>
          </a:solidFill>
          <a:ln xmlns:a="http://schemas.openxmlformats.org/drawingml/2006/main" w="0">
            <a:solidFill>
              <a:srgbClr val="1267C5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89978C-2B53-4428-9F26-69666CC52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562225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4E214B-4362-44FE-8CE7-623B80FEC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2385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334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Согласование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D0B640-B114-424F-A8DE-50CD9E751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58140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47A"/>
                </a:solidFill>
                <a:latin typeface="Arial"/>
                <a:ea typeface="Arial"/>
                <a:cs typeface="Arial"/>
              </a:rPr>
              <a:t>Проверка и комментарии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60F65B-9A41-4A4E-8DF4-AB5AAD95D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714625"/>
            <a:ext cx="1476375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BB7D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25EB62-12F3-4F69-BE95-1E177C4B6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44792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7C5"/>
          </a:solidFill>
          <a:ln xmlns:a="http://schemas.openxmlformats.org/drawingml/2006/main" w="0">
            <a:solidFill>
              <a:srgbClr val="1267C5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311091-5B0C-480C-9A31-626F5FDF2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562225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825FEF-A072-47F7-BE73-7B0DB3FE8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385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Доработка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0672FC-1B2A-41D9-992F-BB5B16670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8140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47A"/>
                </a:solidFill>
                <a:latin typeface="Arial"/>
                <a:ea typeface="Arial"/>
                <a:cs typeface="Arial"/>
              </a:rPr>
              <a:t>Исправление замечаний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0A61ED-E453-43C4-898E-8F4BCB4CB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714625"/>
            <a:ext cx="1476375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BB7D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787F32-0E6D-485D-A32E-3E1E1AA01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44792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9A7A"/>
          </a:solidFill>
          <a:ln xmlns:a="http://schemas.openxmlformats.org/drawingml/2006/main" w="0">
            <a:solidFill>
              <a:srgbClr val="2B9A7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D3E5B8-7C95-4332-8392-8091502BC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562225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0F8C00-F311-442B-B173-0465572A1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2385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Публикация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BEA012-8451-4E65-A527-DA4AE9D7C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58140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203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47A"/>
                </a:solidFill>
                <a:latin typeface="Arial"/>
                <a:ea typeface="Arial"/>
                <a:cs typeface="Arial"/>
              </a:rPr>
              <a:t>Размещение на сайте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8BDEFB-CE45-43E4-A193-02677FE51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5300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7681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Фиксация и архивирование сохраняют историю работы с материалами. Уведомления сообщают участникам об изменении статуса и новых комментариях.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A20420-B865-40E2-AC49-211B0C42C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47A"/>
                </a:solidFill>
                <a:latin typeface="Arial"/>
                <a:ea typeface="Arial"/>
                <a:cs typeface="Arial"/>
              </a:rPr>
              <a:t>ASP.NET Core MVC · MySQL · EF Core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C3A3F2-F272-487B-BCEB-CF5595B78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4842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3647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09020682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0ACA14-9C7E-4B90-BA59-7DE21B537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267C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267C5"/>
                </a:solidFill>
                <a:latin typeface="Arial"/>
                <a:ea typeface="Arial"/>
                <a:cs typeface="Arial"/>
              </a:rPr>
              <a:t>ЛИЧНЫЙ КАБИНЕТ ОПОП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98B37C-62EA-4812-BF1F-FD99E362F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19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Основной функционал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E41740-1A46-49F2-B949-D247C2ECC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8E7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9540E6-A030-4096-B3F1-0ECAC5B2F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8E7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F3B78A-7178-4972-B2D3-C1919C7A4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14500"/>
            <a:ext cx="2619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267C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267C5"/>
                </a:solidFill>
                <a:latin typeface="Arial"/>
                <a:ea typeface="Arial"/>
                <a:cs typeface="Arial"/>
              </a:rPr>
              <a:t>ОПОП и структура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318F5E-497A-4165-A03F-6B21B0B98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7145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2233F"/>
                </a:solidFill>
                <a:latin typeface="Arial"/>
                <a:ea typeface="Arial"/>
                <a:cs typeface="Arial"/>
              </a:rPr>
              <a:t>Кафедры, факультеты, программы, назначения и архив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809AA2-E7C6-4D8E-A7B0-0C2AA8B6F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8E7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8232CD-273B-458B-B97C-8DC0C381F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95550"/>
            <a:ext cx="2619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267C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267C5"/>
                </a:solidFill>
                <a:latin typeface="Arial"/>
                <a:ea typeface="Arial"/>
                <a:cs typeface="Arial"/>
              </a:rPr>
              <a:t>Документы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75C97A-3395-4A6C-94DC-23E56233B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49555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2233F"/>
                </a:solidFill>
                <a:latin typeface="Arial"/>
                <a:ea typeface="Arial"/>
                <a:cs typeface="Arial"/>
              </a:rPr>
              <a:t>Одиночные файлы и комплекты PDF, DOC, DOCX; версии и комментарии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67D5C7-E9C1-44E3-A306-79DE24B8D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8E7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B4160B-661F-49C1-B67B-3260B2D81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76600"/>
            <a:ext cx="2619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267C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267C5"/>
                </a:solidFill>
                <a:latin typeface="Arial"/>
                <a:ea typeface="Arial"/>
                <a:cs typeface="Arial"/>
              </a:rPr>
              <a:t>Учебный план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D726C4-2DFB-48D8-8547-480980217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2766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2233F"/>
                </a:solidFill>
                <a:latin typeface="Arial"/>
                <a:ea typeface="Arial"/>
                <a:cs typeface="Arial"/>
              </a:rPr>
              <a:t>Импорт PLX с предварительным просмотром и подтверждением расхождений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362FC5-8F2C-4321-BB5E-4E4BB71D7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8E7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D420E0-F836-4961-A4C7-23105B99A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57650"/>
            <a:ext cx="2619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267C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267C5"/>
                </a:solidFill>
                <a:latin typeface="Arial"/>
                <a:ea typeface="Arial"/>
                <a:cs typeface="Arial"/>
              </a:rPr>
              <a:t>Рабочий процесс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06996F-79DC-40AD-B5DE-A4C733527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05765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2233F"/>
                </a:solidFill>
                <a:latin typeface="Arial"/>
                <a:ea typeface="Arial"/>
                <a:cs typeface="Arial"/>
              </a:rPr>
              <a:t>Статусы, согласование, возврат на доработку, публикация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A25138-93D1-4DC1-8669-624A802CA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020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8E7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2CE2D6-5212-4258-A0E9-A72F9CF2C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38700"/>
            <a:ext cx="2619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267C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267C5"/>
                </a:solidFill>
                <a:latin typeface="Arial"/>
                <a:ea typeface="Arial"/>
                <a:cs typeface="Arial"/>
              </a:rPr>
              <a:t>Оповещения и аудит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0149DF-C9F2-4982-B325-D08A0E490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8387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2233F"/>
                </a:solidFill>
                <a:latin typeface="Arial"/>
                <a:ea typeface="Arial"/>
                <a:cs typeface="Arial"/>
              </a:rPr>
              <a:t>Уведомления, журнал действий, поиск, фильтры и пагинация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A84AF3-74C7-47E2-B686-FDE5783B6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47A"/>
                </a:solidFill>
                <a:latin typeface="Arial"/>
                <a:ea typeface="Arial"/>
                <a:cs typeface="Arial"/>
              </a:rPr>
              <a:t>ASP.NET Core MVC · MySQL · EF Core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90AC7B-1B86-4EF6-BA66-DB2C46960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4842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3647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91182511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D822F0-BCEA-453E-A571-271458442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267C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267C5"/>
                </a:solidFill>
                <a:latin typeface="Arial"/>
                <a:ea typeface="Arial"/>
                <a:cs typeface="Arial"/>
              </a:rPr>
              <a:t>ЛИЧНЫЙ КАБИНЕТ ОПОП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0E66B8-36D4-4ED5-BB64-B31C66AE0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19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Надёжность и защита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E53FD8-D490-49C4-AA32-B624A8490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8E7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AF18BF-B1C5-40C0-9207-4707B7328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51435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4F8FC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301C8E-1BE0-4F68-AAB0-B534AC6B4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81225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Доступ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6A8807-313B-4D06-B8FD-78D2A7168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4524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765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47A"/>
                </a:solidFill>
                <a:latin typeface="Arial"/>
                <a:ea typeface="Arial"/>
                <a:cs typeface="Arial"/>
              </a:rPr>
              <a:t>Обязательная аутентификация, роли и проверки доступа к объектам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042135-10E1-44F9-A1B9-0D8C30746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952625"/>
            <a:ext cx="51435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4F8FC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39D09F-6092-4509-9542-2CF225C07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181225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Файлы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614858-FCDD-473F-AC73-0A6F82A53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590800"/>
            <a:ext cx="4524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879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47A"/>
                </a:solidFill>
                <a:latin typeface="Arial"/>
                <a:ea typeface="Arial"/>
                <a:cs typeface="Arial"/>
              </a:rPr>
              <a:t>Ограничения размера, безопасное хранение, контроль загрузок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DE75A7-8DE7-49D5-8A98-6594DA11A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51435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727109-2A78-448A-8AEE-51F61002C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3860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Наблюдаемость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803380-3F60-4BF5-BDA5-209CCAC6C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48175"/>
            <a:ext cx="4524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303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47A"/>
                </a:solidFill>
                <a:latin typeface="Arial"/>
                <a:ea typeface="Arial"/>
                <a:cs typeface="Arial"/>
              </a:rPr>
              <a:t>Журналы запросов, событий безопасности и состояния сервера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08A822-4911-482B-BB82-CCEBBE196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810000"/>
            <a:ext cx="51435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4F8FC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264B9C-10B3-4D03-978E-198695D57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403860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Реакция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97DBAA-6D4D-4DD2-B97B-D667C19DF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4448175"/>
            <a:ext cx="4524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765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47A"/>
                </a:solidFill>
                <a:latin typeface="Arial"/>
                <a:ea typeface="Arial"/>
                <a:cs typeface="Arial"/>
              </a:rPr>
              <a:t>Лимиты запросов, блокировки аккаунтов и IP, контроль подозрительной активности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180D6A-981D-48BD-A469-CDBCB7607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47A"/>
                </a:solidFill>
                <a:latin typeface="Arial"/>
                <a:ea typeface="Arial"/>
                <a:cs typeface="Arial"/>
              </a:rPr>
              <a:t>ASP.NET Core MVC · MySQL · EF Core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C2E217-BDB1-46E5-8887-F04A22D61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4842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3647A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763516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42CF11-762A-4ABE-98A6-D54284B15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ИИ-ассистент администратора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B1B62D-F5E3-40B5-AC3D-D45AA1233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742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443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DCEB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CEBFA"/>
                </a:solidFill>
                <a:latin typeface="Arial"/>
                <a:ea typeface="Arial"/>
                <a:cs typeface="Arial"/>
              </a:rPr>
              <a:t>Помогает понять текущую ситуацию в системе и выделить то, что требует ручной проверки.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AD9581-A2B6-4247-BD83-E5D4C848D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5812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B7D8"/>
          </a:solidFill>
          <a:ln xmlns:a="http://schemas.openxmlformats.org/drawingml/2006/main" w="0">
            <a:solidFill>
              <a:srgbClr val="2BB7D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9FC76F-D9FC-4DBE-A8AE-E5E85F77A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476500"/>
            <a:ext cx="4095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048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Вопрос администратора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89D83B-F3E3-4E78-AA43-8BA676AC1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819400"/>
            <a:ext cx="590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7D4E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7D4EF"/>
                </a:solidFill>
                <a:latin typeface="Arial"/>
                <a:ea typeface="Arial"/>
                <a:cs typeface="Arial"/>
              </a:rPr>
              <a:t>Краткий запрос на русском языке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F250AC-6B58-47DF-AB2C-A0DAA9F8A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05125"/>
            <a:ext cx="0" cy="447675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5981A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CEC70B-37C6-4185-A7C2-B1C08CC31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6290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B7D8"/>
          </a:solidFill>
          <a:ln xmlns:a="http://schemas.openxmlformats.org/drawingml/2006/main" w="0">
            <a:solidFill>
              <a:srgbClr val="2BB7D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9296DC-4953-47BD-8245-6CAAABB38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524250"/>
            <a:ext cx="4095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048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Безопасная сводка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95468B-2A27-4B42-9269-B027AC9A1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867150"/>
            <a:ext cx="590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7D4E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7D4EF"/>
                </a:solidFill>
                <a:latin typeface="Arial"/>
                <a:ea typeface="Arial"/>
                <a:cs typeface="Arial"/>
              </a:rPr>
              <a:t>Операционные показатели и обезличенные события за 24 часа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3017BC-0B7D-41FD-9228-739D8DD6F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52875"/>
            <a:ext cx="0" cy="447675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5981A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6D1123-8CD3-45A5-97EC-80D7C40B5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6767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B7D8"/>
          </a:solidFill>
          <a:ln xmlns:a="http://schemas.openxmlformats.org/drawingml/2006/main" w="0">
            <a:solidFill>
              <a:srgbClr val="2BB7D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77FAD0-16BD-4EF9-B5CB-A54F32AAE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572000"/>
            <a:ext cx="4095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048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Ответ модели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C666AF-42BC-47CB-A304-33F629134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914900"/>
            <a:ext cx="590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7D4E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7D4EF"/>
                </a:solidFill>
                <a:latin typeface="Arial"/>
                <a:ea typeface="Arial"/>
                <a:cs typeface="Arial"/>
              </a:rPr>
              <a:t>Краткий анализ с оговоркой о том, что решение принимает администратор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F31A28-F9B1-458B-BB28-A114945C2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714625"/>
            <a:ext cx="3190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835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4B94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4B942"/>
                </a:solidFill>
                <a:latin typeface="Arial"/>
                <a:ea typeface="Arial"/>
                <a:cs typeface="Arial"/>
              </a:rPr>
              <a:t>ИИ не выполняет действия в системе и не получает прямой доступ к базе данных.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99954F-F3FF-494D-9A1E-89657A4FA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47A"/>
                </a:solidFill>
                <a:latin typeface="Arial"/>
                <a:ea typeface="Arial"/>
                <a:cs typeface="Arial"/>
              </a:rPr>
              <a:t>ASP.NET Core MVC · MySQL · EF Core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B60A5A-0BE4-4803-A6D7-0F3D3C332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4842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3647A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35248378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0DAA8B8-34BE-4F41-9935-5D0775F1C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267C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267C5"/>
                </a:solidFill>
                <a:latin typeface="Arial"/>
                <a:ea typeface="Arial"/>
                <a:cs typeface="Arial"/>
              </a:rPr>
              <a:t>ПРОЦЕСС ОБРАБОТКИ ВОПРОСА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88CFCF-9672-43F3-BF0C-7553CE31E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19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Как формируется ответ ИИ-ассистента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A8BD40-C4C1-4BBE-923A-A59F6F940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8E7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29155A-64BC-4CB7-93B2-9147BBC9F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71750"/>
            <a:ext cx="1952625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4F8FC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68E581-32A1-4D78-8DB5-A62B20CA8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432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BB7D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BB7D8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698AC8-D934-4C4E-8922-EBC1C6036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05150"/>
            <a:ext cx="16478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092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Проверка доступа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F8533B-CFBA-4C8B-BFFA-F69A863BF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62350"/>
            <a:ext cx="1609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39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47A"/>
                </a:solidFill>
                <a:latin typeface="Arial"/>
                <a:ea typeface="Arial"/>
                <a:cs typeface="Arial"/>
              </a:rPr>
              <a:t>Только роль администратора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34386F-C592-4669-83C7-F2E697046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286125"/>
            <a:ext cx="3048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BB7D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24E24D-FE02-49DA-89BB-D7F29A509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571750"/>
            <a:ext cx="1952625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4F8FC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2E0051-C4E8-421C-A336-17F805362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7432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BB7D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BB7D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CBFDC1-9C61-4874-8EDD-0D5B5CB04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05150"/>
            <a:ext cx="16478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03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Проверка запроса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0765DF-2DDB-41A4-B825-8C86E9254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562350"/>
            <a:ext cx="1609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619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47A"/>
                </a:solidFill>
                <a:latin typeface="Arial"/>
                <a:ea typeface="Arial"/>
                <a:cs typeface="Arial"/>
              </a:rPr>
              <a:t>Длина вопроса и лимит обращений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638DF4-6450-4942-83E1-2AD9992F3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286125"/>
            <a:ext cx="3048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BB7D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FBEEE1-43A9-4717-ADDC-95AB35ACC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571750"/>
            <a:ext cx="1952625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4F8FC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AB2C1D-1DDB-477B-AE83-04B424BD3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7432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BB7D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BB7D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803DB4-BE23-46D1-BB60-036E0C29C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105150"/>
            <a:ext cx="16478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01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Подготовка сводки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A1F45F-0C9B-4EDC-B5E7-CE01D333C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562350"/>
            <a:ext cx="1609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619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47A"/>
                </a:solidFill>
                <a:latin typeface="Arial"/>
                <a:ea typeface="Arial"/>
                <a:cs typeface="Arial"/>
              </a:rPr>
              <a:t>Данные агрегируются, ограничиваются и очищаются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B98E38-3485-4C71-A369-E3E5BB996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286125"/>
            <a:ext cx="3048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BB7D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807633-9B0A-40E0-A172-769AE206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571750"/>
            <a:ext cx="1952625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98097A-7A00-46FB-A6B2-6D49A02DC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7432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BB7D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BB7D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9ED262-411A-4754-B9FD-D1537FB8E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105150"/>
            <a:ext cx="16478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Запрос к модели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4A620B-06B9-4E09-8D01-121213D81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562350"/>
            <a:ext cx="1609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619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47A"/>
                </a:solidFill>
                <a:latin typeface="Arial"/>
                <a:ea typeface="Arial"/>
                <a:cs typeface="Arial"/>
              </a:rPr>
              <a:t>Groq API с моделью, заданной в конфигурации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3848BB-70F1-4F96-AB8D-675B20F70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286125"/>
            <a:ext cx="3048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BB7D8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702069-EAA3-4FC3-B56A-F1ABA6E1E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571750"/>
            <a:ext cx="1952625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4F8FC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EFBE04-B5DF-4737-B55E-00571FF1D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7432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BB7D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BB7D8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07FD50-EBDF-418A-BC51-3A84A6942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105150"/>
            <a:ext cx="16478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08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Фильтрация ответа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66EE86C-8BC8-4D53-8A64-C47A71666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562350"/>
            <a:ext cx="1609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619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47A"/>
                </a:solidFill>
                <a:latin typeface="Arial"/>
                <a:ea typeface="Arial"/>
                <a:cs typeface="Arial"/>
              </a:rPr>
              <a:t>Скрытие служебного вывода и ограничение длины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C128362-3672-401B-BDCC-2537E1207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00625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127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Низкая температура ответа (0,2) делает формулировки более стабильными. Лимит генерации и тайм-аут защищают интерфейс от зависаний и слишком длинных ответов.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A54A460-7819-4B58-89B9-D662D7E5A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47A"/>
                </a:solidFill>
                <a:latin typeface="Arial"/>
                <a:ea typeface="Arial"/>
                <a:cs typeface="Arial"/>
              </a:rPr>
              <a:t>ASP.NET Core MVC · MySQL · EF Core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6194E3D-6B18-462E-91D6-4FCC8130E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4842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3647A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58302325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5F12D16-D48A-4482-BF58-8FEC4ECED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267C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267C5"/>
                </a:solidFill>
                <a:latin typeface="Arial"/>
                <a:ea typeface="Arial"/>
                <a:cs typeface="Arial"/>
              </a:rPr>
              <a:t>ЛИЧНЫЙ КАБИНЕТ ОПОП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E25CB1-A9A8-420B-B20C-9955135AE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19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Какие данные получает модель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60BC68-6428-4231-B68B-A1F4A13E7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8E7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544533-ED0E-4D84-9434-D868E5205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913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Передаётся только ограниченная безопасная сводка.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750DCB-9998-449C-AD5A-337A91676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38375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333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B9A7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B9A7A"/>
                </a:solidFill>
                <a:latin typeface="Arial"/>
                <a:ea typeface="Arial"/>
                <a:cs typeface="Arial"/>
              </a:rPr>
              <a:t>Может быть включено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A07D6A-1B20-441D-8895-D14B3FBEA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38375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333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D9595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95959"/>
                </a:solidFill>
                <a:latin typeface="Arial"/>
                <a:ea typeface="Arial"/>
                <a:cs typeface="Arial"/>
              </a:rPr>
              <a:t>Исключается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843BED-40C1-41E6-A52C-E8E32F56A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527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B7D8"/>
          </a:solidFill>
          <a:ln xmlns:a="http://schemas.openxmlformats.org/drawingml/2006/main" w="0">
            <a:solidFill>
              <a:srgbClr val="2BB7D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D964F7-04C1-4DF6-A5F2-9B51D0289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67000"/>
            <a:ext cx="466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Количество и типы событий безопасности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62B896-8067-43A2-AF2A-CB1DE4960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33700"/>
            <a:ext cx="4667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E8E83F-B607-4391-BABF-6B8AF0FD4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76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B7D8"/>
          </a:solidFill>
          <a:ln xmlns:a="http://schemas.openxmlformats.org/drawingml/2006/main" w="0">
            <a:solidFill>
              <a:srgbClr val="2BB7D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1F5099-2444-4365-B000-AEFA2AC99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90875"/>
            <a:ext cx="466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Агрегированные ошибки HTTP за 24 часа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2126A3-13AC-431D-90BC-3A98A9958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57575"/>
            <a:ext cx="4667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C0644A-17D6-49DC-90B5-19D1C4FE2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004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B7D8"/>
          </a:solidFill>
          <a:ln xmlns:a="http://schemas.openxmlformats.org/drawingml/2006/main" w="0">
            <a:solidFill>
              <a:srgbClr val="2BB7D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35615E-5037-4A79-B30F-F3402F720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14750"/>
            <a:ext cx="466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Число заблокированных аккаунтов и IP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956340-8C49-4A80-BEC4-07546D984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81450"/>
            <a:ext cx="4667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2CC150-2685-4EFB-B6EF-6EF0233B4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243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B7D8"/>
          </a:solidFill>
          <a:ln xmlns:a="http://schemas.openxmlformats.org/drawingml/2006/main" w="0">
            <a:solidFill>
              <a:srgbClr val="2BB7D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5F6B94-87F5-4475-B695-24ABC791D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38625"/>
            <a:ext cx="466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Статусы элементов ОПОП и показатели работы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60F1C9-EBF3-441C-89AB-69DE68EB9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05325"/>
            <a:ext cx="4667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20C751-D954-41D1-BBDF-57403A200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482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B7D8"/>
          </a:solidFill>
          <a:ln xmlns:a="http://schemas.openxmlformats.org/drawingml/2006/main" w="0">
            <a:solidFill>
              <a:srgbClr val="2BB7D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48E091-4E20-41D4-8527-4A8D620AB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62500"/>
            <a:ext cx="466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Счётчики уведомлений текущего администратора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0F6E4D-E9E4-481E-80DF-736C5F2DD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29200"/>
            <a:ext cx="4667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0651FA-13CF-406F-959D-7EBBD3F91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7527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B7D8"/>
          </a:solidFill>
          <a:ln xmlns:a="http://schemas.openxmlformats.org/drawingml/2006/main" w="0">
            <a:solidFill>
              <a:srgbClr val="2BB7D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54BBD7-FCB3-426D-AA50-EF9718063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66700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ФИО, логины и e-mail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7191EF-ECED-4763-8E98-AC234692B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933700"/>
            <a:ext cx="428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9957A9-E91A-4BF4-B704-10F94D3A8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276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B7D8"/>
          </a:solidFill>
          <a:ln xmlns:a="http://schemas.openxmlformats.org/drawingml/2006/main" w="0">
            <a:solidFill>
              <a:srgbClr val="2BB7D8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35027E5-98E9-4755-BEAA-423953BF6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190875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Пароли, токены и строки подключения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F192C5C-0371-4C7D-BE34-667F1DABB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457575"/>
            <a:ext cx="428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1503651-965D-41C6-BDC7-FC7C17878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8004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B7D8"/>
          </a:solidFill>
          <a:ln xmlns:a="http://schemas.openxmlformats.org/drawingml/2006/main" w="0">
            <a:solidFill>
              <a:srgbClr val="2BB7D8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F3604DD-7C92-48C5-9237-C39B47ACC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71475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Query string и stack trace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8B3C6E-300B-4BCD-985F-C0E6F53F2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981450"/>
            <a:ext cx="428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DF592FE-B4D3-43FE-AB25-FA723E097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3243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B7D8"/>
          </a:solidFill>
          <a:ln xmlns:a="http://schemas.openxmlformats.org/drawingml/2006/main" w="0">
            <a:solidFill>
              <a:srgbClr val="2BB7D8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1751426-6CB8-4E9F-A462-837F0CD7E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238625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Содержимое файлов и доступ к файловой системе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DD6CA4F-3F3B-4E39-A765-3ED1A79E9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505325"/>
            <a:ext cx="428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AF91A31-E206-43A8-9687-22CBCCFDD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8482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B7D8"/>
          </a:solidFill>
          <a:ln xmlns:a="http://schemas.openxmlformats.org/drawingml/2006/main" w="0">
            <a:solidFill>
              <a:srgbClr val="2BB7D8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722E46B-63C5-4520-A326-15A6AA7DA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76250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Прямой доступ к базе, сети и контроллерам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383B972-4BE7-4E83-88E9-F3FCAE800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5029200"/>
            <a:ext cx="428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08BBD01-3DA3-40A2-8DB2-5B61A648E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47A"/>
                </a:solidFill>
                <a:latin typeface="Arial"/>
                <a:ea typeface="Arial"/>
                <a:cs typeface="Arial"/>
              </a:rPr>
              <a:t>ASP.NET Core MVC · MySQL · EF Core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9ABA6F9-D086-4C3F-80B5-5D941C70A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4842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3647A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71403401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CCD4A8-08AB-4263-AAA5-C63B389C2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267C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267C5"/>
                </a:solidFill>
                <a:latin typeface="Arial"/>
                <a:ea typeface="Arial"/>
                <a:cs typeface="Arial"/>
              </a:rPr>
              <a:t>ЛИЧНЫЙ КАБИНЕТ ОПОП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51097D-9D1F-4667-9949-E607B1EA8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19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Ограничения и ответственное применение ИИ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7582D6-C64F-46E1-B4E3-39AA931CF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8E7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1CCDFE-5050-458E-81A2-17EF2980D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954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B7D8"/>
          </a:solidFill>
          <a:ln xmlns:a="http://schemas.openxmlformats.org/drawingml/2006/main" w="0">
            <a:solidFill>
              <a:srgbClr val="2BB7D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4ABE1C-1CAD-4AC8-9F1D-068ECC52E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ИИ анализирует сводку, а не заменяет администратора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E12498-98BD-4C39-9B83-61D926115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76450"/>
            <a:ext cx="981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47A"/>
                </a:solidFill>
                <a:latin typeface="Arial"/>
                <a:ea typeface="Arial"/>
                <a:cs typeface="Arial"/>
              </a:rPr>
              <a:t>Ответ содержит рекомендацию. Администратор подтверждает любое управленческое решение вручную.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F6F7CA-BF1D-4928-89BF-DDD001D2C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241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B7D8"/>
          </a:solidFill>
          <a:ln xmlns:a="http://schemas.openxmlformats.org/drawingml/2006/main" w="0">
            <a:solidFill>
              <a:srgbClr val="2BB7D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ADC419-0634-4A27-8DA1-95C94103D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38450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Недостаток данных обозначается явно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E2A1F6-19DD-43AA-AF47-140982C24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05150"/>
            <a:ext cx="981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47A"/>
                </a:solidFill>
                <a:latin typeface="Arial"/>
                <a:ea typeface="Arial"/>
                <a:cs typeface="Arial"/>
              </a:rPr>
              <a:t>Системная инструкция требует отделять факты от предположений и не придумывать детали.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58C67B-11D8-4546-9EA1-06638BACB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528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B7D8"/>
          </a:solidFill>
          <a:ln xmlns:a="http://schemas.openxmlformats.org/drawingml/2006/main" w="0">
            <a:solidFill>
              <a:srgbClr val="2BB7D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0BDB84-34BA-4003-9AF0-3BC7CDDF2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67150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Подозрение не равно обвинению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8439BB-6A49-4931-B1E6-218B17F3B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33850"/>
            <a:ext cx="981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47A"/>
                </a:solidFill>
                <a:latin typeface="Arial"/>
                <a:ea typeface="Arial"/>
                <a:cs typeface="Arial"/>
              </a:rPr>
              <a:t>Ассистент предлагает, какие записи проверить, но не называет пользователя или IP злоумышленником без доказательств.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5B3ADF-2562-4091-B9FA-AE9739BC5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815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B7D8"/>
          </a:solidFill>
          <a:ln xmlns:a="http://schemas.openxmlformats.org/drawingml/2006/main" w="0">
            <a:solidFill>
              <a:srgbClr val="2BB7D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E0403E-461C-419E-AE4E-BB3D03A15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95850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Сбои провайдера обрабатываются безопасно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66AF8E-412C-40C9-BBFC-E48F9E9EF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62550"/>
            <a:ext cx="981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47A"/>
                </a:solidFill>
                <a:latin typeface="Arial"/>
                <a:ea typeface="Arial"/>
                <a:cs typeface="Arial"/>
              </a:rPr>
              <a:t>Пользователь получает понятное сообщение, а система не раскрывает технические детали.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4F8EE9-DD53-4682-9E4C-DCB251D46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47A"/>
                </a:solidFill>
                <a:latin typeface="Arial"/>
                <a:ea typeface="Arial"/>
                <a:cs typeface="Arial"/>
              </a:rPr>
              <a:t>ASP.NET Core MVC · MySQL · EF Core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249ABB-E4FB-4763-953A-1C6F360D3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4842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3647A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86705589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B93A47-1795-4E2D-9FB6-4BBC6DF0C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Итог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39C761-192C-4F67-9987-12B5D721B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857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3929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DCEBF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DCEBFA"/>
                </a:solidFill>
                <a:latin typeface="Arial"/>
                <a:ea typeface="Arial"/>
                <a:cs typeface="Arial"/>
              </a:rPr>
              <a:t>Личный кабинет объединяет управление ОПОП, рабочий процесс документов, публикацию и контроль безопасности.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E5223C-F297-49A7-8B02-FE1C39DCE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1026795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BB7D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562F4C-E2C6-469A-A642-D6C0397DB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6125"/>
            <a:ext cx="9144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ИИ-ассистент расширяет административный контроль: он объясняет сигналы системы на основе ограниченной сводки, но не получает доступ к секретам и не выполняет действия самостоятельно.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984AB9-7F8E-4F82-9663-6DF3CBE10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971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7D4E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7D4EF"/>
                </a:solidFill>
                <a:latin typeface="Arial"/>
                <a:ea typeface="Arial"/>
                <a:cs typeface="Arial"/>
              </a:rPr>
              <a:t>Технологическая основа: ASP.NET Core MVC 8 · EF Core 8 · MySQL 8 · ASP.NET Core Identity · Groq API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FE4F34-F285-4DBF-B22D-F4A684C46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4B94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4B942"/>
                </a:solidFill>
                <a:latin typeface="Arial"/>
                <a:ea typeface="Arial"/>
                <a:cs typeface="Arial"/>
              </a:rPr>
              <a:t>Спасибо за внимание</a:t>
            </a:r>
          </a:p>
        </p:txBody>
      </p:sp>
    </p:spTree>
    <p:extLst>
      <p:ext uri="{BB962C8B-B14F-4D97-AF65-F5344CB8AC3E}">
        <p14:creationId xmlns:p14="http://schemas.microsoft.com/office/powerpoint/2010/main" val="13442396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2026-09-04T19:30:50.9170000Z</dcterms:created>
  <dcterms:modified xsi:type="dcterms:W3CDTF">2026-09-04T19:30:50.9170000Z</dcterms:modified>
</coreProperties>
</file>